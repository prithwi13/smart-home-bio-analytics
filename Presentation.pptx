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32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0559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226"/>
          </a:solidFill>
          <a:ln w="12700">
            <a:solidFill>
              <a:srgbClr val="F4A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45720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Bio-Analytics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1508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C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Detection · Routine Mining · Energy Forecasting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2029968"/>
            <a:ext cx="4572000" cy="274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21945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450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Prithwiraj Chatterjee 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Fahad Ullah Syed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2926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
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Mahmoud Ali Jawad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7033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Texas at Arlington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Statistics and Data Science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5306  Applied Time Series Analysis in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AGENDA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2608" y="1188720"/>
            <a:ext cx="4114800" cy="356616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36592" y="1188720"/>
            <a:ext cx="4114800" cy="356616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Introduction &amp; Problem Statement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Dataset Overview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Data Cleaning &amp; Preprocessing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Exploratory Data Analysis (EDA)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Feature Engineering &amp; Bio-Analytics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Time Series Modeling (SARIMAX)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Machine Learning Model (Random Forest)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Model Comparison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Anomaly Detection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Conclusion &amp; Future Work  |  Q&amp;A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INTRODUCTION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4114800" cy="3611880"/>
          </a:xfrm>
          <a:prstGeom prst="rect">
            <a:avLst/>
          </a:prstGeom>
          <a:solidFill>
            <a:srgbClr val="E8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36592" y="1170432"/>
            <a:ext cx="4114800" cy="3611880"/>
          </a:xfrm>
          <a:prstGeom prst="rect">
            <a:avLst/>
          </a:prstGeom>
          <a:solidFill>
            <a:srgbClr val="EAF7EE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29844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Current Approaches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69164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energy forecasting uses weather, time-of-day, and past values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ignores the most critical variable: who is home and what are they doing?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approach extracts human presence from raw sensor physics without a motion sensor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addresses that gap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19472" y="129844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9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Unique Contribution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19472" y="169164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Bio-analytics: infer human presence from thermodynamic sensor fingerprints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raise humidity (breathing) and temperature (body heat ~80W) measurable in sensor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Outdoor-corrected signals isolate the human effect from weather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scores then directly power energy forecasting models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PROBLEM STATEMENT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2608" y="1188720"/>
            <a:ext cx="8558784" cy="749808"/>
          </a:xfrm>
          <a:prstGeom prst="rect">
            <a:avLst/>
          </a:prstGeom>
          <a:solidFill>
            <a:srgbClr val="EFF6FF"/>
          </a:solidFill>
          <a:ln w="635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2618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detect human occupancy per room using only thermodynamic sensor signals, mine household routines, and use this bio-analytics layer to improve energy consumption forecasting."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" y="2103120"/>
            <a:ext cx="4114800" cy="269748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36592" y="2103120"/>
            <a:ext cx="4114800" cy="269748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22128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Input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56032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rooms × temperature + humidity sensors (10-min intervals)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weather: T_out, RH_out, Windspeed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wattage &amp; appliance energy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19,735 raw readings — Jan to May 2016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9472" y="22128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9641"/>
                </a:solidFill>
              </a:rPr>
              <a:t>Output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256032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Per-room occupancy scores (0–1) every 10 minutes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routine calendar (who is home, when)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day detection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forecasts from SARIMAX and Random Forest using occupancy as features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DATASET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1600200" cy="96012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12618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19,735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92608" y="17922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48256" y="1170432"/>
            <a:ext cx="1600200" cy="96012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48256" y="12618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48256" y="17922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03904" y="1170432"/>
            <a:ext cx="1600200" cy="96012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03904" y="12618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803904" y="17922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59552" y="1170432"/>
            <a:ext cx="1600200" cy="96012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59552" y="12618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559552" y="17922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1170432"/>
            <a:ext cx="1600200" cy="96012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0" y="12618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mo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15200" y="17922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728928"/>
              </p:ext>
            </p:extLst>
          </p:nvPr>
        </p:nvGraphicFramePr>
        <p:xfrm>
          <a:off x="292608" y="2267712"/>
          <a:ext cx="8467344" cy="2514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5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 (°C)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RH (%)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/ RH_1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Indoor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Living Room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/ RH_2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Indoor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Laundry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/ RH_3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Indoor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Office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/ RH_4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Indoor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Bathroom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 / RH_5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Indoor (shower signal)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Garage/North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 / RH_6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Excluded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Bedroom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 / RH_7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Indoor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Bedroom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T8 / RH_8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Indoor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T_out / RH_out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CLEANING &amp; PREPROCESSING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92608" y="960120"/>
            <a:ext cx="8558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data for reliable modelling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" y="1170432"/>
            <a:ext cx="4114800" cy="114300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1170432"/>
            <a:ext cx="475488" cy="11430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1536192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12252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Parsing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" y="1517904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parse_date_time() with multiple format fallbacks to messy datetime strings. Arranged chronologically, NAs dropped.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" y="2432304"/>
            <a:ext cx="4114800" cy="114300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2608" y="2432304"/>
            <a:ext cx="475488" cy="11430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2608" y="2798064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9536" y="24871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Exclusion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" y="2779776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T6/RH_6 avg = 7.9°C ≈ T_out avg = 7.4°C. Confirmed as semi-outdoor space so excluded from all indoor occupancy inference.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3694176"/>
            <a:ext cx="4114800" cy="114300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2608" y="3694176"/>
            <a:ext cx="475488" cy="11430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2608" y="4059936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9536" y="3749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Aggregation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" y="404164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 rows → hourly via floor_date(). Mean for temperatures, max for occupancy scores (any activity in the hour counts).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36592" y="1170432"/>
            <a:ext cx="4114800" cy="114300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36592" y="1170432"/>
            <a:ext cx="475488" cy="11430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36592" y="1536192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12252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 Creation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1517904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lag1 = previous hour energy, lag24 = same hour yesterday, roll3 = 3-hour rolling mean. First 24 rows dropped (NA lags removed).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36592" y="2432304"/>
            <a:ext cx="4114800" cy="114300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36592" y="2432304"/>
            <a:ext cx="475488" cy="11430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36592" y="2798064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24871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2779776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 split. Strictly chronological with no shuffling. Train ends early April, test covers May 2016.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3694176"/>
            <a:ext cx="4114800" cy="114300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36592" y="3694176"/>
            <a:ext cx="475488" cy="11430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36592" y="4059936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03520" y="3749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Pinning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404164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masks dplyr verbs. All select/filter/mutate pinned to dplyr:: at load time to prevent silent failures.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EXPLORATORY DATA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Indoor Room Temperatures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92608" y="960120"/>
            <a:ext cx="8558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weeks · Overnight drops reveal unoccupied rooms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1207008"/>
            <a:ext cx="6217920" cy="35478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75120" y="1207008"/>
            <a:ext cx="2176272" cy="3547872"/>
          </a:xfrm>
          <a:prstGeom prst="rect">
            <a:avLst/>
          </a:prstGeom>
          <a:solidFill>
            <a:srgbClr val="E8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39712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Observations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39712" y="1664208"/>
            <a:ext cx="1920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rooms cycle daily between warm (occupied) and cool (empty)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(orange) peaks sharply at mealtimes (cooking activity)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Room (gray) stays consistently lowest unheated space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overnight drops across all rooms confirm daily routine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92608" y="4892040"/>
            <a:ext cx="8558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Plot 1 of 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EXPLORATORY DATA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Temperature &amp; Humidity Heatmaps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92608" y="960120"/>
            <a:ext cx="8558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× date patterns expose occupancy without any labels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1170432"/>
            <a:ext cx="2788920" cy="35204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0" y="1170432"/>
            <a:ext cx="2788920" cy="352044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80760" y="1170432"/>
            <a:ext cx="2788920" cy="35204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92608" y="473659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Kitchen — warms at dinner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3200400" y="473659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Bedroom 1 — warm overnight = sleeping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6080760" y="473659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Bathroom RH — dark spikes = shower events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EXPLORATORY DATA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Correlation &amp; Occupancy Proxies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1170432"/>
            <a:ext cx="5029200" cy="354787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0" y="1170432"/>
            <a:ext cx="3364992" cy="35478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92608" y="4754880"/>
            <a:ext cx="8558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Key findings: T sensors are correlated 0.8+ (thermally coupled rooms). Lights ON raises median appliance energy ~40%. RH_5 (bathroom) is the least correlated with other rooms — bathroom events are isolated.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EXPLORATORY DATA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STL Decomposition &amp; Autocorrelation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92608" y="960120"/>
            <a:ext cx="8558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daily seasonality and AR structure before modelling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1170432"/>
            <a:ext cx="4937760" cy="35661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94960" y="1170432"/>
            <a:ext cx="3456432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92608" y="4754880"/>
            <a:ext cx="8558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STL splits series into trend (40–100 Wh, slowly rising), daily seasonal (±40 Wh, freq=24), and remainder (spiky, up to 400 Wh). ACF confirms lag-24 dominates — justifies frequency=24 in SARIMAX.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FEATURE 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Bio-Analytics Occupancy Scoring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92608" y="960120"/>
            <a:ext cx="8558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unique contribution of this project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" y="1170432"/>
            <a:ext cx="4114800" cy="3657600"/>
          </a:xfrm>
          <a:prstGeom prst="rect">
            <a:avLst/>
          </a:prstGeom>
          <a:solidFill>
            <a:srgbClr val="1A3050"/>
          </a:solidFill>
          <a:ln w="6350">
            <a:solidFill>
              <a:srgbClr val="1A305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Formula (per room)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RH signal
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ΔRH_room − ΔRH_outdoor  →  breathing signal  × 0.4
</a:t>
            </a:r>
            <a:r>
              <a:rPr lang="en-US" sz="1150" b="1" dirty="0">
                <a:solidFill>
                  <a:srgbClr val="FC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Temperature signal
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ΔT_room − ΔT_outdoor  →  body heat signal  × 0.3
</a:t>
            </a:r>
            <a:r>
              <a:rPr lang="en-US" sz="1150" b="1" dirty="0">
                <a:solidFill>
                  <a:srgbClr val="FC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Lights signal
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/ max_lights  →  active use signal  × 0.3
</a:t>
            </a: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clip(sum, 0 → 1)  per room  per 10 min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36592" y="1170432"/>
            <a:ext cx="4114800" cy="173736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9472" y="1280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Why outdoor correction?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9472" y="16276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humid rainy day all rooms show rising RH ,but that's weather, not people. Subtracting outdoor rate isolates the indoor-only signal. What remains is the human fingerprint.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36592" y="3090672"/>
            <a:ext cx="4114800" cy="173736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9472" y="32004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Additional features engineered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9472" y="3547872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occ_house = mean of all indoor room scores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lag1 = energy previous hour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lag24 = energy same hour yesterday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roll3 = 3-hour rolling mean of energy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FEATURE ENGINEERING — 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Scores per Room First 7 Days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92608" y="960120"/>
            <a:ext cx="8558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0–1 computed from sensor physics alone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1170432"/>
            <a:ext cx="8558784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" y="4828032"/>
            <a:ext cx="8558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Bathroom shows sharp isolated spikes (shower events). Kitchen shows meal-time peaks. Home Office has persistent daytime signal. Bedrooms stay low — body heat accumulates slowly.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ROUTINE MINING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Occupancy Matrix &amp; Household Routine Heatmap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1170432"/>
            <a:ext cx="4297680" cy="35661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28032" y="1170432"/>
            <a:ext cx="4023360" cy="3566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92608" y="477316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3-week occupancy matrix (dark = occupied)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828032" y="47731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Routine heatmap — family weekly schedule from sensor data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ROUTINE MINING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 &amp; Energy–Occupancy Relationship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1170432"/>
            <a:ext cx="4297680" cy="35661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28032" y="1170432"/>
            <a:ext cx="4023360" cy="3566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92608" y="4773168"/>
            <a:ext cx="8558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Weekday morning peak earlier (commute). Weekend later sleeping-in. Energy rises monotonically with occupancy score up to score ~0.4, then plateaus.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TIME SERIES MODELLING — SARIMAX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Modelling SARIMAX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4114800" cy="356616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2984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Model Selection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64592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auto.arima() for automated parameter search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ACF/PACF confirmed lag-24 seasonal period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d=0 enforced — series is mean-reverting, not trending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D=0 — no seasonal differencing needed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stepwise=TRUE, approximation=TRUE for speed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3611880"/>
            <a:ext cx="3749040" cy="77724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3749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CD581"/>
                </a:solidFill>
              </a:rPr>
              <a:t>Final Model:  ARIMA(2,0,0)(2,0,0)[24]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40782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B8D0"/>
                </a:solidFill>
              </a:rPr>
              <a:t>Seasonal component frequency = 24 (daily cycle)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36592" y="1170432"/>
            <a:ext cx="4114800" cy="356616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9472" y="12984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Key fix applied vs original code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64592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SARIMAX chose d=1 (first differencing) which made it predict changes not levels ,MAPE hit 150%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lag24 added to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xreg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the model an observed energy anchor at each forecast step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SARIMAX not SARIMA: the 'X' means exogenous variables. We pass weather + occ_house + lag24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MACHINE LEARNING — RANDOM FOREST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Random Forest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4114800" cy="356616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2984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Why Random Forest?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64592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relationships between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noise and high-variance appliance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stationarity requirement — works on raw levels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built-in — validates bio-analytics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 with importance=TRUE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33101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Feature Set (12 variables)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363931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9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lag: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lag1, lag24, roll3
</a:t>
            </a: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Occupancy: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occ_house, occ_1, occ_2, occ_7, occ_8
</a:t>
            </a: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T_out, RH_out, hour, is_weekend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36592" y="1170432"/>
            <a:ext cx="4114800" cy="356616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9472" y="129844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Why RF has lag features but SARIMAX uses xreg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810512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 handles temporal dependence internally through its AR/MA orders the 'memory' is built into the model structure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has no memory as it sees each row as independent. Without lag columns it cannot know what happened yesterday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RF is explicitly handed lag1 and lag24 as input features ,this is the same information, just delivered differently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occupancy scores (occ_1, occ_2 etc.) are unique to this project and no other approach generates these from sensor physics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 COMPARISON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Forecast vs Actual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92608" y="960120"/>
            <a:ext cx="8558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period (May 2016) + 7-day zoom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1170432"/>
            <a:ext cx="8558784" cy="235915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2608" y="3611880"/>
            <a:ext cx="8558784" cy="12984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92608" y="4956048"/>
            <a:ext cx="8558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RF (green) closely tracks actual peaks and troughs. SARIMAX (orange) produces a smoother forecast — captures trend but misses spikes. Seasonal naive (gray) is surprisingly competitive because energy is highly cyclical.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 COMPARISON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Residuals &amp; Actual vs Predicted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1170432"/>
            <a:ext cx="4297680" cy="35661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28032" y="1170432"/>
            <a:ext cx="4005072" cy="3566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92608" y="4773168"/>
            <a:ext cx="8558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RF residuals centre on zero (good). SARIMAX residuals have slight negative bias — occasionally over-predicts low-energy hours. Scatter: RF points cluster closer to the diagonal.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 COMPARISON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Performance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1600200" cy="96012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12618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9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51.18 Wh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92608" y="17922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RMSE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48256" y="1170432"/>
            <a:ext cx="1600200" cy="96012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48256" y="12618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6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63.7 Wh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48256" y="17922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 RMSE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03904" y="1170432"/>
            <a:ext cx="1600200" cy="96012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03904" y="12618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78.6 Wh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803904" y="17922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RMSE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59552" y="1170432"/>
            <a:ext cx="1600200" cy="96012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59552" y="12618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9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32.6%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559552" y="17922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MAPE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1170432"/>
            <a:ext cx="1600200" cy="960120"/>
          </a:xfrm>
          <a:prstGeom prst="rect">
            <a:avLst/>
          </a:prstGeom>
          <a:solidFill>
            <a:srgbClr val="F0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0" y="12618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6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49.1%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15200" y="17922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 MAPE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972110"/>
              </p:ext>
            </p:extLst>
          </p:nvPr>
        </p:nvGraphicFramePr>
        <p:xfrm>
          <a:off x="292608" y="2304288"/>
          <a:ext cx="8558784" cy="12344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(Wh)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(Wh)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96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51.18 </a:t>
                      </a: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32.179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96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Best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Naive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3657600"/>
            <a:ext cx="8558784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FEATURE IMPORTANCE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Feature Importance — What Drives Energy Consumption?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92608" y="960120"/>
            <a:ext cx="8558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Bio-analytics occupancy scores are 4 of the top 6 features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1170432"/>
            <a:ext cx="5943600" cy="3611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170432"/>
            <a:ext cx="2450592" cy="3611880"/>
          </a:xfrm>
          <a:prstGeom prst="rect">
            <a:avLst/>
          </a:prstGeom>
          <a:solidFill>
            <a:srgbClr val="E8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65392" y="12984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Key Insight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65392" y="1664208"/>
            <a:ext cx="2176272" cy="2907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= strongest overall daily cycle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lag24 = same hour yesterday is #2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occ_1 (Kitchen) = #3 cooking drives energy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occ_house, occ_8, occ_7 = #4–6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occupancy features outrank weather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Bio-analytics directly improved prediction accuracy which validates the entire pipeline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92608" y="4892040"/>
            <a:ext cx="8558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4 of top 6 features are occupancy scores derived from sensor physics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ANOMALY DETECTION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11480"/>
            <a:ext cx="8558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92608" y="960120"/>
            <a:ext cx="8558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anomalous days detected out of 137 total days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1170432"/>
            <a:ext cx="5943600" cy="3611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170432"/>
            <a:ext cx="2450592" cy="3611880"/>
          </a:xfrm>
          <a:prstGeom prst="rect">
            <a:avLst/>
          </a:prstGeom>
          <a:solidFill>
            <a:srgbClr val="E8F4F8"/>
          </a:solidFill>
          <a:ln w="6350">
            <a:solidFill>
              <a:srgbClr val="D1E5E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65392" y="12984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Method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65392" y="1664208"/>
            <a:ext cx="21762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on total daily energy consumption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 &gt; 2 flagged as anomaly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anomalous days found in 137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cluster (2 consecutive days) likely a holiday or guest visit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outlier (low) possible away period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565392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Insight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65392" y="3675888"/>
            <a:ext cx="21762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days are harder to forecast they drive most of the remainder in STL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method is simple, interpretable, and catches meaningful outliers without over-flagging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226"/>
          </a:solidFill>
          <a:ln w="12700">
            <a:solidFill>
              <a:srgbClr val="F4A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45720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320040"/>
            <a:ext cx="85587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92608" y="960120"/>
            <a:ext cx="54864" cy="685800"/>
          </a:xfrm>
          <a:prstGeom prst="rect">
            <a:avLst/>
          </a:prstGeom>
          <a:solidFill>
            <a:srgbClr val="F4A226"/>
          </a:solidFill>
          <a:ln w="12700">
            <a:solidFill>
              <a:srgbClr val="F4A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784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presence detectable from physics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7101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Outdoor-corrected humidity and temperature rate signals produce reliable 0–1 occupancy scores per room ,no motion sensor or labelled data required.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" y="1920240"/>
            <a:ext cx="54864" cy="685800"/>
          </a:xfrm>
          <a:prstGeom prst="rect">
            <a:avLst/>
          </a:prstGeom>
          <a:solidFill>
            <a:srgbClr val="F4A226"/>
          </a:solidFill>
          <a:ln w="12700">
            <a:solidFill>
              <a:srgbClr val="F4A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mining works from sensor data alone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23113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schedule, wake time, meal times, and bedtime recoverable from 4.5 months of T/RH readings. Weekday and weekend profiles differ detectably.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2880360"/>
            <a:ext cx="54864" cy="685800"/>
          </a:xfrm>
          <a:prstGeom prst="rect">
            <a:avLst/>
          </a:prstGeom>
          <a:solidFill>
            <a:srgbClr val="F4A226"/>
          </a:solidFill>
          <a:ln w="12700">
            <a:solidFill>
              <a:srgbClr val="F4A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89864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scores directly improve forecasting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19125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the top 6 RF features are occupancy scores. The bio-analytics pipeline is quantifiably useful — not just descriptive.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" y="3840480"/>
            <a:ext cx="54864" cy="685800"/>
          </a:xfrm>
          <a:prstGeom prst="rect">
            <a:avLst/>
          </a:prstGeom>
          <a:solidFill>
            <a:srgbClr val="F4A226"/>
          </a:solidFill>
          <a:ln w="12700">
            <a:solidFill>
              <a:srgbClr val="F4A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8587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outperforms SARIMAX on noisy energy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5137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RMSE.SARIMAX recovered after fixing d=0 and adding lag24 (MAPE 150% → 49%). RF handles non-linear spikes better.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" y="4800600"/>
            <a:ext cx="8558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90B0"/>
                </a:solidFill>
              </a:rPr>
              <a:t>Future Work: LSTM/XGBoost for non-linear forecasting  ·  Ground-truth occupancy validation  ·  Real-time smart home integration  ·  Hybrid model ensemble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226"/>
          </a:solidFill>
          <a:ln w="12700">
            <a:solidFill>
              <a:srgbClr val="F4A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46304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5146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CD581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3063240"/>
            <a:ext cx="4572000" cy="274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32461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39319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90B0"/>
                </a:solidFill>
              </a:rPr>
              <a:t>University of Texas at Arlington  |  Applied Time Series Analysis in Data Analytics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1971</Words>
  <Application>Microsoft Macintosh PowerPoint</Application>
  <PresentationFormat>On-screen Show (16:9)</PresentationFormat>
  <Paragraphs>302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Home Bio-Analytics</dc:title>
  <dc:subject>PptxGenJS Presentation</dc:subject>
  <dc:creator>Prithwiraj Chatterjee</dc:creator>
  <cp:lastModifiedBy>Chatterjee, Prithwiraj</cp:lastModifiedBy>
  <cp:revision>4</cp:revision>
  <dcterms:created xsi:type="dcterms:W3CDTF">2026-04-30T16:09:04Z</dcterms:created>
  <dcterms:modified xsi:type="dcterms:W3CDTF">2026-05-02T02:07:36Z</dcterms:modified>
</cp:coreProperties>
</file>